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" charset="1" panose="02000000000000000000"/>
      <p:regular r:id="rId16"/>
    </p:embeddedFont>
    <p:embeddedFont>
      <p:font typeface="Roboto Slab" charset="1" panose="00000000000000000000"/>
      <p:regular r:id="rId17"/>
    </p:embeddedFont>
    <p:embeddedFont>
      <p:font typeface="Roboto Bold" charset="1" panose="02000000000000000000"/>
      <p:regular r:id="rId18"/>
    </p:embeddedFont>
    <p:embeddedFont>
      <p:font typeface="Consolas" charset="1" panose="020B0609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17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19.png" Type="http://schemas.openxmlformats.org/officeDocument/2006/relationships/image"/><Relationship Id="rId5" Target="../media/image20.jpe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0238" y="3041304"/>
            <a:ext cx="2464298" cy="532800"/>
            <a:chOff x="0" y="0"/>
            <a:chExt cx="3285731" cy="71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85744" cy="710438"/>
            </a:xfrm>
            <a:custGeom>
              <a:avLst/>
              <a:gdLst/>
              <a:ahLst/>
              <a:cxnLst/>
              <a:rect r="r" b="b" t="t" l="l"/>
              <a:pathLst>
                <a:path h="710438" w="3285744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3240405" y="0"/>
                  </a:lnTo>
                  <a:cubicBezTo>
                    <a:pt x="3265424" y="0"/>
                    <a:pt x="3285744" y="20320"/>
                    <a:pt x="3285744" y="45339"/>
                  </a:cubicBezTo>
                  <a:lnTo>
                    <a:pt x="3285744" y="665099"/>
                  </a:lnTo>
                  <a:cubicBezTo>
                    <a:pt x="3285744" y="690118"/>
                    <a:pt x="3265424" y="710438"/>
                    <a:pt x="3240405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08254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20345" y="3050086"/>
            <a:ext cx="3038475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PROJECT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8" y="3658943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Movie Recommendation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0238" y="5789409"/>
            <a:ext cx="944552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Too many choices. Too much time deciding. Our system recommends movies that are </a:t>
            </a: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both similar and popular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— matching the user's taste, not just random hits.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160564"/>
            <a:ext cx="8939060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Three-Part Architecture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356202" y="2642149"/>
            <a:ext cx="9575606" cy="5683148"/>
            <a:chOff x="0" y="0"/>
            <a:chExt cx="12767475" cy="757753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2767437" cy="7577582"/>
            </a:xfrm>
            <a:custGeom>
              <a:avLst/>
              <a:gdLst/>
              <a:ahLst/>
              <a:cxnLst/>
              <a:rect r="r" b="b" t="t" l="l"/>
              <a:pathLst>
                <a:path h="7577582" w="12767437">
                  <a:moveTo>
                    <a:pt x="0" y="0"/>
                  </a:moveTo>
                  <a:lnTo>
                    <a:pt x="12767437" y="0"/>
                  </a:lnTo>
                  <a:lnTo>
                    <a:pt x="12767437" y="7577582"/>
                  </a:lnTo>
                  <a:lnTo>
                    <a:pt x="0" y="757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" t="0" r="-5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020958" y="6997532"/>
            <a:ext cx="238027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Gradio App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1164" y="6768265"/>
            <a:ext cx="2380278" cy="92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Recommendation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72450" y="6768265"/>
            <a:ext cx="2380278" cy="92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Data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8548983"/>
            <a:ext cx="172179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Raw data → processing → model → recommendations → user.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2702423"/>
            <a:ext cx="80026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Data Cleaning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7850238" y="4042172"/>
            <a:ext cx="2959446" cy="3513687"/>
          </a:xfrm>
          <a:custGeom>
            <a:avLst/>
            <a:gdLst/>
            <a:ahLst/>
            <a:cxnLst/>
            <a:rect r="r" b="b" t="t" l="l"/>
            <a:pathLst>
              <a:path h="3513687" w="2959446">
                <a:moveTo>
                  <a:pt x="0" y="0"/>
                </a:moveTo>
                <a:lnTo>
                  <a:pt x="2959446" y="0"/>
                </a:lnTo>
                <a:lnTo>
                  <a:pt x="2959446" y="3513687"/>
                </a:lnTo>
                <a:lnTo>
                  <a:pt x="0" y="35136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2" t="0" r="-3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324250" y="4354268"/>
            <a:ext cx="2163813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Validate Fields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24250" y="5324475"/>
            <a:ext cx="216381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userId &amp; movieId are numbers; rating is decimal.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1093206" y="4042172"/>
            <a:ext cx="2959446" cy="3513687"/>
          </a:xfrm>
          <a:custGeom>
            <a:avLst/>
            <a:gdLst/>
            <a:ahLst/>
            <a:cxnLst/>
            <a:rect r="r" b="b" t="t" l="l"/>
            <a:pathLst>
              <a:path h="3513687" w="2959446">
                <a:moveTo>
                  <a:pt x="0" y="0"/>
                </a:moveTo>
                <a:lnTo>
                  <a:pt x="2959446" y="0"/>
                </a:lnTo>
                <a:lnTo>
                  <a:pt x="2959446" y="3513687"/>
                </a:lnTo>
                <a:lnTo>
                  <a:pt x="0" y="35136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2" t="0" r="-33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567217" y="4354268"/>
            <a:ext cx="2163813" cy="133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Remove Invalid Ratings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67217" y="5767388"/>
            <a:ext cx="216381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Valid ratings range from 0.5 to 5.0.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4336163" y="4042172"/>
            <a:ext cx="2959446" cy="3513687"/>
          </a:xfrm>
          <a:custGeom>
            <a:avLst/>
            <a:gdLst/>
            <a:ahLst/>
            <a:cxnLst/>
            <a:rect r="r" b="b" t="t" l="l"/>
            <a:pathLst>
              <a:path h="3513687" w="2959446">
                <a:moveTo>
                  <a:pt x="0" y="0"/>
                </a:moveTo>
                <a:lnTo>
                  <a:pt x="2959446" y="0"/>
                </a:lnTo>
                <a:lnTo>
                  <a:pt x="2959446" y="3513687"/>
                </a:lnTo>
                <a:lnTo>
                  <a:pt x="0" y="35136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2" t="0" r="-33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810184" y="4354268"/>
            <a:ext cx="2163813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Why It Matters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10184" y="5324475"/>
            <a:ext cx="2163813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Bad data leads to wrong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458793"/>
            <a:ext cx="80026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Sparse Data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958380"/>
            <a:ext cx="8655548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Most users rate only a few movies out of thousands — creating many empty values.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5279822"/>
            <a:ext cx="4185942" cy="2200723"/>
            <a:chOff x="0" y="0"/>
            <a:chExt cx="5581256" cy="29342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81269" cy="2934335"/>
            </a:xfrm>
            <a:custGeom>
              <a:avLst/>
              <a:gdLst/>
              <a:ahLst/>
              <a:cxnLst/>
              <a:rect r="r" b="b" t="t" l="l"/>
              <a:pathLst>
                <a:path h="2934335" w="558126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524500" y="0"/>
                  </a:lnTo>
                  <a:cubicBezTo>
                    <a:pt x="5555869" y="0"/>
                    <a:pt x="5581269" y="25400"/>
                    <a:pt x="5581269" y="56769"/>
                  </a:cubicBezTo>
                  <a:lnTo>
                    <a:pt x="5581269" y="2877566"/>
                  </a:lnTo>
                  <a:cubicBezTo>
                    <a:pt x="5581269" y="2908935"/>
                    <a:pt x="5555869" y="2934335"/>
                    <a:pt x="5524500" y="2934335"/>
                  </a:cubicBezTo>
                  <a:lnTo>
                    <a:pt x="56769" y="2934335"/>
                  </a:lnTo>
                  <a:cubicBezTo>
                    <a:pt x="25400" y="2934335"/>
                    <a:pt x="0" y="2908935"/>
                    <a:pt x="0" y="2877566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75750" y="555381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Keep Active Users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0" y="6194527"/>
            <a:ext cx="3618900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Users who rated enough movies.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461692" y="5279822"/>
            <a:ext cx="4186085" cy="2200723"/>
            <a:chOff x="0" y="0"/>
            <a:chExt cx="5581447" cy="29342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1523" cy="2934335"/>
            </a:xfrm>
            <a:custGeom>
              <a:avLst/>
              <a:gdLst/>
              <a:ahLst/>
              <a:cxnLst/>
              <a:rect r="r" b="b" t="t" l="l"/>
              <a:pathLst>
                <a:path h="2934335" w="5581523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524754" y="0"/>
                  </a:lnTo>
                  <a:cubicBezTo>
                    <a:pt x="5556123" y="0"/>
                    <a:pt x="5581523" y="25400"/>
                    <a:pt x="5581523" y="56769"/>
                  </a:cubicBezTo>
                  <a:lnTo>
                    <a:pt x="5581523" y="2877566"/>
                  </a:lnTo>
                  <a:cubicBezTo>
                    <a:pt x="5581523" y="2908935"/>
                    <a:pt x="5556123" y="2934335"/>
                    <a:pt x="5524754" y="2934335"/>
                  </a:cubicBezTo>
                  <a:lnTo>
                    <a:pt x="56769" y="2934335"/>
                  </a:lnTo>
                  <a:cubicBezTo>
                    <a:pt x="25400" y="2934335"/>
                    <a:pt x="0" y="2908935"/>
                    <a:pt x="0" y="2877566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745213" y="555381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Keep Popular Movies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45213" y="6194527"/>
            <a:ext cx="361905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Movies with enough ratings.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349065" y="4370194"/>
            <a:ext cx="2857500" cy="2857500"/>
            <a:chOff x="0" y="0"/>
            <a:chExt cx="3810000" cy="38100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697509"/>
            <a:ext cx="80026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User-Item Matrix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4370337"/>
            <a:ext cx="2857500" cy="2857500"/>
            <a:chOff x="0" y="0"/>
            <a:chExt cx="3810000" cy="3810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649595" y="4197106"/>
            <a:ext cx="9569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Each row is a user. Each column is a movie. Each cell is a rating.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49595" y="4924873"/>
            <a:ext cx="9569948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Example: User 10 rated Movie 5 with 4 stars → cell = 4.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649595" y="5682853"/>
            <a:ext cx="8655548" cy="1559128"/>
            <a:chOff x="0" y="0"/>
            <a:chExt cx="11540731" cy="20788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540744" cy="2078863"/>
            </a:xfrm>
            <a:custGeom>
              <a:avLst/>
              <a:gdLst/>
              <a:ahLst/>
              <a:cxnLst/>
              <a:rect r="r" b="b" t="t" l="l"/>
              <a:pathLst>
                <a:path h="2078863" w="1154074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1483975" y="0"/>
                  </a:lnTo>
                  <a:cubicBezTo>
                    <a:pt x="11515344" y="0"/>
                    <a:pt x="11540744" y="25400"/>
                    <a:pt x="11540744" y="56769"/>
                  </a:cubicBezTo>
                  <a:lnTo>
                    <a:pt x="11540744" y="2022094"/>
                  </a:lnTo>
                  <a:cubicBezTo>
                    <a:pt x="11540744" y="2053463"/>
                    <a:pt x="11515344" y="2078863"/>
                    <a:pt x="11483975" y="2078863"/>
                  </a:cubicBezTo>
                  <a:lnTo>
                    <a:pt x="56769" y="2078863"/>
                  </a:lnTo>
                  <a:cubicBezTo>
                    <a:pt x="25400" y="2078863"/>
                    <a:pt x="0" y="2053463"/>
                    <a:pt x="0" y="2022094"/>
                  </a:cubicBezTo>
                  <a:close/>
                </a:path>
              </a:pathLst>
            </a:custGeom>
            <a:solidFill>
              <a:srgbClr val="0D3E7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33107" y="6112964"/>
            <a:ext cx="354359" cy="283521"/>
            <a:chOff x="0" y="0"/>
            <a:chExt cx="472478" cy="3780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72" t="0" r="-680" b="1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70987" y="5913539"/>
            <a:ext cx="745063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Transforms raw rating data into a format the AI model can understand.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1997716"/>
            <a:ext cx="1277388" cy="532800"/>
            <a:chOff x="0" y="0"/>
            <a:chExt cx="1703184" cy="71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3197" cy="710438"/>
            </a:xfrm>
            <a:custGeom>
              <a:avLst/>
              <a:gdLst/>
              <a:ahLst/>
              <a:cxnLst/>
              <a:rect r="r" b="b" t="t" l="l"/>
              <a:pathLst>
                <a:path h="710438" w="1703197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657858" y="0"/>
                  </a:lnTo>
                  <a:cubicBezTo>
                    <a:pt x="1682877" y="0"/>
                    <a:pt x="1703197" y="20320"/>
                    <a:pt x="1703197" y="45339"/>
                  </a:cubicBezTo>
                  <a:lnTo>
                    <a:pt x="1703197" y="665099"/>
                  </a:lnTo>
                  <a:cubicBezTo>
                    <a:pt x="1703197" y="690118"/>
                    <a:pt x="1682877" y="710438"/>
                    <a:pt x="1657858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08254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62345" y="2006498"/>
            <a:ext cx="1851574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MODEL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2615355"/>
            <a:ext cx="80026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Popularity Baseline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3955104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999" t="0" r="-2001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055314" y="3945579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Average Rating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55314" y="4472883"/>
            <a:ext cx="83824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Mean score per movie.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238" y="5588794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333" t="0" r="-3334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55314" y="5579269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Rating Count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55314" y="6106563"/>
            <a:ext cx="83824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How many users rated it.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238" y="7222484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66" r="0" b="-1266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055314" y="7212959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Backup Role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55314" y="7740253"/>
            <a:ext cx="83824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Falls back when no similar movies found.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425303"/>
            <a:ext cx="8383791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Collaborative Filtering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4370337"/>
            <a:ext cx="2857500" cy="2857500"/>
            <a:chOff x="0" y="0"/>
            <a:chExt cx="3810000" cy="3810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499406" y="3924900"/>
            <a:ext cx="7805890" cy="1711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Learns from </a:t>
            </a: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user behavior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— no genre or story needed.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If two movies are rated similarly by many users, they are considered similar.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99406" y="5955059"/>
            <a:ext cx="7805890" cy="1559128"/>
            <a:chOff x="0" y="0"/>
            <a:chExt cx="10407853" cy="20788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903" cy="2078863"/>
            </a:xfrm>
            <a:custGeom>
              <a:avLst/>
              <a:gdLst/>
              <a:ahLst/>
              <a:cxnLst/>
              <a:rect r="r" b="b" t="t" l="l"/>
              <a:pathLst>
                <a:path h="2078863" w="10407903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351135" y="0"/>
                  </a:lnTo>
                  <a:cubicBezTo>
                    <a:pt x="10382503" y="0"/>
                    <a:pt x="10407903" y="25400"/>
                    <a:pt x="10407903" y="56769"/>
                  </a:cubicBezTo>
                  <a:lnTo>
                    <a:pt x="10407903" y="2022094"/>
                  </a:lnTo>
                  <a:cubicBezTo>
                    <a:pt x="10407903" y="2053463"/>
                    <a:pt x="10382503" y="2078863"/>
                    <a:pt x="10351135" y="2078863"/>
                  </a:cubicBezTo>
                  <a:lnTo>
                    <a:pt x="56769" y="2078863"/>
                  </a:lnTo>
                  <a:cubicBezTo>
                    <a:pt x="25400" y="2078863"/>
                    <a:pt x="0" y="2053463"/>
                    <a:pt x="0" y="2022094"/>
                  </a:cubicBezTo>
                  <a:close/>
                </a:path>
              </a:pathLst>
            </a:custGeom>
            <a:solidFill>
              <a:srgbClr val="0D3E7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782918" y="6385169"/>
            <a:ext cx="354359" cy="283521"/>
            <a:chOff x="0" y="0"/>
            <a:chExt cx="472478" cy="37802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72" t="0" r="-680" b="1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420798" y="6185745"/>
            <a:ext cx="6600977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Calculates movie-to-movie similarity. The main AI technique in our project.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761848"/>
            <a:ext cx="7448845" cy="84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Cosine Similarity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360659"/>
            <a:ext cx="8679952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Compares two movies as </a:t>
            </a:r>
            <a:r>
              <a:rPr lang="en-US" sz="20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rating vectors</a:t>
            </a: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. Similar rating patterns → high score. Different → low score.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5511251"/>
            <a:ext cx="8679952" cy="924373"/>
            <a:chOff x="0" y="0"/>
            <a:chExt cx="11573269" cy="12324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73256" cy="1232535"/>
            </a:xfrm>
            <a:custGeom>
              <a:avLst/>
              <a:gdLst/>
              <a:ahLst/>
              <a:cxnLst/>
              <a:rect r="r" b="b" t="t" l="l"/>
              <a:pathLst>
                <a:path h="1232535" w="1157325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1520932" y="0"/>
                  </a:lnTo>
                  <a:cubicBezTo>
                    <a:pt x="11549761" y="0"/>
                    <a:pt x="11573256" y="23368"/>
                    <a:pt x="11573256" y="52324"/>
                  </a:cubicBezTo>
                  <a:lnTo>
                    <a:pt x="11573256" y="1180211"/>
                  </a:lnTo>
                  <a:cubicBezTo>
                    <a:pt x="11573256" y="1209040"/>
                    <a:pt x="11549888" y="1232535"/>
                    <a:pt x="11520932" y="1232535"/>
                  </a:cubicBezTo>
                  <a:lnTo>
                    <a:pt x="52324" y="1232535"/>
                  </a:lnTo>
                  <a:cubicBezTo>
                    <a:pt x="23368" y="1232535"/>
                    <a:pt x="0" y="1209040"/>
                    <a:pt x="0" y="1180211"/>
                  </a:cubicBezTo>
                  <a:close/>
                </a:path>
              </a:pathLst>
            </a:custGeom>
            <a:solidFill>
              <a:srgbClr val="2D344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9294" y="5511251"/>
            <a:ext cx="8705850" cy="924373"/>
            <a:chOff x="0" y="0"/>
            <a:chExt cx="11607800" cy="12324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07800" cy="1232535"/>
            </a:xfrm>
            <a:custGeom>
              <a:avLst/>
              <a:gdLst/>
              <a:ahLst/>
              <a:cxnLst/>
              <a:rect r="r" b="b" t="t" l="l"/>
              <a:pathLst>
                <a:path h="1232535" w="116078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1555476" y="0"/>
                  </a:lnTo>
                  <a:cubicBezTo>
                    <a:pt x="11584432" y="0"/>
                    <a:pt x="11607800" y="23368"/>
                    <a:pt x="11607800" y="52324"/>
                  </a:cubicBezTo>
                  <a:lnTo>
                    <a:pt x="11607800" y="1180211"/>
                  </a:lnTo>
                  <a:cubicBezTo>
                    <a:pt x="11607800" y="1209040"/>
                    <a:pt x="11584432" y="1232535"/>
                    <a:pt x="11555476" y="1232535"/>
                  </a:cubicBezTo>
                  <a:lnTo>
                    <a:pt x="52324" y="1232535"/>
                  </a:lnTo>
                  <a:cubicBezTo>
                    <a:pt x="23368" y="1232535"/>
                    <a:pt x="0" y="1209040"/>
                    <a:pt x="0" y="1180211"/>
                  </a:cubicBezTo>
                  <a:close/>
                </a:path>
              </a:pathLst>
            </a:custGeom>
            <a:solidFill>
              <a:srgbClr val="2D344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05963" y="5667823"/>
            <a:ext cx="8966892" cy="50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cosine_similarity(matrix_filled.T)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6639963"/>
            <a:ext cx="9594352" cy="38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.T transposes the matrix so movies compare with movies.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319299" y="2239566"/>
            <a:ext cx="6985845" cy="6985845"/>
            <a:chOff x="0" y="0"/>
            <a:chExt cx="9314459" cy="931445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9314434" cy="9314434"/>
            </a:xfrm>
            <a:custGeom>
              <a:avLst/>
              <a:gdLst/>
              <a:ahLst/>
              <a:cxnLst/>
              <a:rect r="r" b="b" t="t" l="l"/>
              <a:pathLst>
                <a:path h="9314434" w="9314434">
                  <a:moveTo>
                    <a:pt x="0" y="0"/>
                  </a:moveTo>
                  <a:lnTo>
                    <a:pt x="9314434" y="0"/>
                  </a:lnTo>
                  <a:lnTo>
                    <a:pt x="9314434" y="9314434"/>
                  </a:lnTo>
                  <a:lnTo>
                    <a:pt x="0" y="9314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855021"/>
            <a:ext cx="10252472" cy="80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Recommendation &amp; Gradio App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0238" y="2000402"/>
            <a:ext cx="504977" cy="315516"/>
            <a:chOff x="0" y="0"/>
            <a:chExt cx="673303" cy="420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3299" cy="420688"/>
            </a:xfrm>
            <a:custGeom>
              <a:avLst/>
              <a:gdLst/>
              <a:ahLst/>
              <a:cxnLst/>
              <a:rect r="r" b="b" t="t" l="l"/>
              <a:pathLst>
                <a:path h="420688" w="673299">
                  <a:moveTo>
                    <a:pt x="0" y="0"/>
                  </a:moveTo>
                  <a:lnTo>
                    <a:pt x="673299" y="0"/>
                  </a:lnTo>
                  <a:lnTo>
                    <a:pt x="673299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65" t="0" r="-3016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73303" cy="43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5E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50238" y="2400900"/>
            <a:ext cx="9445523" cy="28575"/>
            <a:chOff x="0" y="0"/>
            <a:chExt cx="12594031" cy="381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" t="0" r="-18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850238" y="2584256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Check Movie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50238" y="3046962"/>
            <a:ext cx="9445523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Exists in similarity table? If not, return popular movies.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50238" y="3909717"/>
            <a:ext cx="504977" cy="315516"/>
            <a:chOff x="0" y="0"/>
            <a:chExt cx="673303" cy="4206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3299" cy="420688"/>
            </a:xfrm>
            <a:custGeom>
              <a:avLst/>
              <a:gdLst/>
              <a:ahLst/>
              <a:cxnLst/>
              <a:rect r="r" b="b" t="t" l="l"/>
              <a:pathLst>
                <a:path h="420688" w="673299">
                  <a:moveTo>
                    <a:pt x="0" y="0"/>
                  </a:moveTo>
                  <a:lnTo>
                    <a:pt x="673299" y="0"/>
                  </a:lnTo>
                  <a:lnTo>
                    <a:pt x="673299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65" t="0" r="-3016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73303" cy="43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5E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850238" y="4285059"/>
            <a:ext cx="9445523" cy="28575"/>
            <a:chOff x="0" y="0"/>
            <a:chExt cx="12594031" cy="381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" t="0" r="-18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850238" y="4493571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Find Similar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50238" y="4956277"/>
            <a:ext cx="9445523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Get top K similar movies from the table.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50238" y="5819032"/>
            <a:ext cx="504977" cy="315516"/>
            <a:chOff x="0" y="0"/>
            <a:chExt cx="673303" cy="4206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3299" cy="420688"/>
            </a:xfrm>
            <a:custGeom>
              <a:avLst/>
              <a:gdLst/>
              <a:ahLst/>
              <a:cxnLst/>
              <a:rect r="r" b="b" t="t" l="l"/>
              <a:pathLst>
                <a:path h="420688" w="673299">
                  <a:moveTo>
                    <a:pt x="0" y="0"/>
                  </a:moveTo>
                  <a:lnTo>
                    <a:pt x="673299" y="0"/>
                  </a:lnTo>
                  <a:lnTo>
                    <a:pt x="673299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65" t="0" r="-3016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73303" cy="43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5E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50238" y="6169076"/>
            <a:ext cx="9445523" cy="28575"/>
            <a:chOff x="0" y="0"/>
            <a:chExt cx="12594031" cy="381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" t="0" r="-18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850238" y="6402886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Rank by Popularity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50238" y="6865591"/>
            <a:ext cx="9445523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Check rating count, return final N movies.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850238" y="7728347"/>
            <a:ext cx="504977" cy="315516"/>
            <a:chOff x="0" y="0"/>
            <a:chExt cx="673303" cy="4206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3299" cy="420688"/>
            </a:xfrm>
            <a:custGeom>
              <a:avLst/>
              <a:gdLst/>
              <a:ahLst/>
              <a:cxnLst/>
              <a:rect r="r" b="b" t="t" l="l"/>
              <a:pathLst>
                <a:path h="420688" w="673299">
                  <a:moveTo>
                    <a:pt x="0" y="0"/>
                  </a:moveTo>
                  <a:lnTo>
                    <a:pt x="673299" y="0"/>
                  </a:lnTo>
                  <a:lnTo>
                    <a:pt x="673299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65" t="0" r="-30166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73303" cy="43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5E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50238" y="8053235"/>
            <a:ext cx="9445523" cy="28575"/>
            <a:chOff x="0" y="0"/>
            <a:chExt cx="12594031" cy="381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" t="0" r="-18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7850238" y="8312201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Gradio Interface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50238" y="8774906"/>
            <a:ext cx="9445523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User picks movie, chooses count, gets results.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0238" y="2224535"/>
            <a:ext cx="1729978" cy="532800"/>
            <a:chOff x="0" y="0"/>
            <a:chExt cx="2306638" cy="71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06574" cy="710438"/>
            </a:xfrm>
            <a:custGeom>
              <a:avLst/>
              <a:gdLst/>
              <a:ahLst/>
              <a:cxnLst/>
              <a:rect r="r" b="b" t="t" l="l"/>
              <a:pathLst>
                <a:path h="710438" w="2306574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261235" y="0"/>
                  </a:lnTo>
                  <a:cubicBezTo>
                    <a:pt x="2286254" y="0"/>
                    <a:pt x="2306574" y="20320"/>
                    <a:pt x="2306574" y="45339"/>
                  </a:cubicBezTo>
                  <a:lnTo>
                    <a:pt x="2306574" y="665099"/>
                  </a:lnTo>
                  <a:cubicBezTo>
                    <a:pt x="2306574" y="690118"/>
                    <a:pt x="2286254" y="710438"/>
                    <a:pt x="2261235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08254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20345" y="2233317"/>
            <a:ext cx="2304155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8" y="2842174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Similar + Popular = Better Picks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850238" y="5067900"/>
            <a:ext cx="2959446" cy="2994574"/>
          </a:xfrm>
          <a:custGeom>
            <a:avLst/>
            <a:gdLst/>
            <a:ahLst/>
            <a:cxnLst/>
            <a:rect r="r" b="b" t="t" l="l"/>
            <a:pathLst>
              <a:path h="2994574" w="2959446">
                <a:moveTo>
                  <a:pt x="0" y="0"/>
                </a:moveTo>
                <a:lnTo>
                  <a:pt x="2959446" y="0"/>
                </a:lnTo>
                <a:lnTo>
                  <a:pt x="2959446" y="2994574"/>
                </a:lnTo>
                <a:lnTo>
                  <a:pt x="0" y="2994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8" r="0" b="-4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133750" y="5341887"/>
            <a:ext cx="239241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Data Pipeline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33750" y="5869191"/>
            <a:ext cx="239241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Cleaning, filtering, matrix transformation.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1093206" y="5067900"/>
            <a:ext cx="2959446" cy="2994574"/>
          </a:xfrm>
          <a:custGeom>
            <a:avLst/>
            <a:gdLst/>
            <a:ahLst/>
            <a:cxnLst/>
            <a:rect r="r" b="b" t="t" l="l"/>
            <a:pathLst>
              <a:path h="2994574" w="2959446">
                <a:moveTo>
                  <a:pt x="0" y="0"/>
                </a:moveTo>
                <a:lnTo>
                  <a:pt x="2959446" y="0"/>
                </a:lnTo>
                <a:lnTo>
                  <a:pt x="2959446" y="2994574"/>
                </a:lnTo>
                <a:lnTo>
                  <a:pt x="0" y="2994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8" r="0" b="-4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376717" y="5341887"/>
            <a:ext cx="239241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AI Models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76717" y="5869191"/>
            <a:ext cx="2392413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Popularity baseline + collaborative filtering.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4336163" y="5067900"/>
            <a:ext cx="2959446" cy="2994574"/>
          </a:xfrm>
          <a:custGeom>
            <a:avLst/>
            <a:gdLst/>
            <a:ahLst/>
            <a:cxnLst/>
            <a:rect r="r" b="b" t="t" l="l"/>
            <a:pathLst>
              <a:path h="2994574" w="2959446">
                <a:moveTo>
                  <a:pt x="0" y="0"/>
                </a:moveTo>
                <a:lnTo>
                  <a:pt x="2959446" y="0"/>
                </a:lnTo>
                <a:lnTo>
                  <a:pt x="2959446" y="2994574"/>
                </a:lnTo>
                <a:lnTo>
                  <a:pt x="0" y="2994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8" r="0" b="-4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619684" y="5341887"/>
            <a:ext cx="239241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Result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19684" y="5869191"/>
            <a:ext cx="2392413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Similar, reliable, commonly rated — in a simple Gradio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DAHNkzqy780</dc:identifier>
  <dcterms:modified xsi:type="dcterms:W3CDTF">2011-08-01T06:04:30Z</dcterms:modified>
  <cp:revision>1</cp:revision>
</cp:coreProperties>
</file>